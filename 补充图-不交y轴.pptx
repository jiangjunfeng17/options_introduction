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1F2_3A258879.xml" ContentType="application/vnd.ms-powerpoint.comments+xml"/>
  <Override PartName="/ppt/notesSlides/notesSlide2.xml" ContentType="application/vnd.openxmlformats-officedocument.presentationml.notesSlide+xml"/>
  <Override PartName="/ppt/comments/modernComment_11FB_130984C.xml" ContentType="application/vnd.ms-powerpoint.comments+xml"/>
  <Override PartName="/ppt/notesSlides/notesSlide3.xml" ContentType="application/vnd.openxmlformats-officedocument.presentationml.notesSlide+xml"/>
  <Override PartName="/ppt/comments/modernComment_11FD_D4CC90C9.xml" ContentType="application/vnd.ms-powerpoint.comments+xml"/>
  <Override PartName="/ppt/notesSlides/notesSlide4.xml" ContentType="application/vnd.openxmlformats-officedocument.presentationml.notesSlide+xml"/>
  <Override PartName="/ppt/comments/modernComment_1205_3BAFA41B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CZWMY6GJ79VA0TBG9GR8ILJ87ZCMO7VR9J0XLJDWXFFRTQCTZIBR6CJAFSVHPFRRBFMXHOZ8ZIAD8MEJRXFTPF8H8RM0WL5BBJOOIHB32CE01216DA8CAB6F982B4809CD317CFC" Type="http://schemas.microsoft.com/office/2006/relationships/officeDocumentMain" Target="docProps/core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CAWFK6GD79VQ00TGRQR8YL0Y7ZEMOYPREE06BJDWXGHRTDLT6MBRVC0HFYYHP8IRBOM6SOLKZIW78MJJEFFTKFFX8RF0WHWBBSOORHB31DAC233600826DA894F78B01169EEFEF" Type="http://schemas.microsoft.com/office/2006/relationships/officeDocumentExtended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4594" r:id="rId2"/>
    <p:sldId id="4603" r:id="rId3"/>
    <p:sldId id="4605" r:id="rId4"/>
    <p:sldId id="4613" r:id="rId5"/>
  </p:sldIdLst>
  <p:sldSz cx="9144000" cy="6858000" type="screen4x3"/>
  <p:notesSz cx="6858000" cy="9144000"/>
  <p:defaultTextStyle>
    <a:defPPr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BD98FD5-C624-4C20-97D7-42EBD293F023}">
          <p14:sldIdLst>
            <p14:sldId id="4594"/>
            <p14:sldId id="4603"/>
            <p14:sldId id="4605"/>
            <p14:sldId id="46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8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04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8C0944-49A8-02AF-E7F2-2D950702627E}" name="Alfred Jiang" initials="Jiang JF." userId="Alfred Jiang" providerId="None"/>
  <p188:author id="{D72689A8-DB26-2D49-372D-5D2F248A8C9D}" name="office" initials="oo" userId="S::a2670@365x.pro::9435fbc3-52cf-4cbe-96f2-59738b3bd67b" providerId="AD"/>
  <p188:author id="{24BBD1C9-E177-744F-1334-DA4839187A93}" name="小俊 福" initials="小福" userId="e7503d9f46d0ce3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FFC000"/>
    <a:srgbClr val="EAD1BC"/>
    <a:srgbClr val="FFFFFF"/>
    <a:srgbClr val="9F6603"/>
    <a:srgbClr val="CE92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40" autoAdjust="0"/>
    <p:restoredTop sz="94832" autoAdjust="0"/>
  </p:normalViewPr>
  <p:slideViewPr>
    <p:cSldViewPr snapToGrid="0" snapToObjects="1" showGuides="1">
      <p:cViewPr varScale="1">
        <p:scale>
          <a:sx n="104" d="100"/>
          <a:sy n="104" d="100"/>
        </p:scale>
        <p:origin x="520" y="72"/>
      </p:cViewPr>
      <p:guideLst>
        <p:guide orient="horz" pos="2103"/>
        <p:guide pos="287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54" d="100"/>
          <a:sy n="54" d="100"/>
        </p:scale>
        <p:origin x="-2928" y="-84"/>
      </p:cViewPr>
      <p:guideLst>
        <p:guide orient="horz" pos="2804"/>
        <p:guide pos="215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omments/modernComment_11F2_3A25887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EC6DFB-3607-4EF4-8857-F0E076D59B8F}" authorId="{D72689A8-DB26-2D49-372D-5D2F248A8C9D}" created="2026-03-07T04:04:30.13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75538297" sldId="4594"/>
      <ac:graphicFrameMk id="3" creationId="{4DD32F6B-C221-3B72-56E3-DD71BAEB9169}"/>
    </ac:deMkLst>
    <p188:txBody>
      <a:bodyPr/>
      <a:lstStyle/>
      <a:p>
        <a:r>
          <a:rPr lang="zh-CN" altLang="en-US"/>
          <a:t>图上的适用常见可以加到表格一列，后几页同，图上字有点小</a:t>
        </a:r>
      </a:p>
    </p188:txBody>
  </p188:cm>
  <p188:cm id="{68A8BB71-9A22-4A20-BB52-B0A4228A7DFB}" authorId="{D72689A8-DB26-2D49-372D-5D2F248A8C9D}" created="2026-03-07T04:08:38.29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75538297" sldId="4594"/>
      <ac:picMk id="14" creationId="{A3502927-E9D8-A1A7-D63C-C3645995F2CF}"/>
    </ac:deMkLst>
    <p188:txBody>
      <a:bodyPr/>
      <a:lstStyle/>
      <a:p>
        <a:r>
          <a:rPr lang="zh-CN" altLang="en-US"/>
          <a:t>这个牛市看涨和牛市看跌期权图好像不对？比如牛市看涨价差组合，图中买入看涨期权的行权价明显更高，卖出看涨期权的行权价更低</a:t>
        </a:r>
      </a:p>
    </p188:txBody>
  </p188:cm>
</p188:cmLst>
</file>

<file path=ppt/comments/modernComment_11FB_130984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6A1EAFF-BBE5-4367-9015-78E2CB753335}" authorId="{D72689A8-DB26-2D49-372D-5D2F248A8C9D}" created="2026-03-07T09:54:02.14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961932" sldId="4603"/>
      <ac:graphicFrameMk id="17" creationId="{5C4EEBBC-7EAA-DBAD-5DD3-7720549EED74}"/>
    </ac:deMkLst>
    <p188:txBody>
      <a:bodyPr/>
      <a:lstStyle/>
      <a:p>
        <a:r>
          <a:rPr lang="zh-CN" altLang="en-US"/>
          <a:t>同上页</a:t>
        </a:r>
      </a:p>
    </p188:txBody>
  </p188:cm>
</p188:cmLst>
</file>

<file path=ppt/comments/modernComment_11FD_D4CC90C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AE7464-683B-440A-8B9A-159E3F984527}" authorId="{D72689A8-DB26-2D49-372D-5D2F248A8C9D}" created="2026-03-07T07:52:23.10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570176201" sldId="4605"/>
      <ac:spMk id="2" creationId="{399C0225-8021-3049-BF0C-900A54D21CFD}"/>
    </ac:deMkLst>
    <p188:txBody>
      <a:bodyPr/>
      <a:lstStyle/>
      <a:p>
        <a:r>
          <a:rPr lang="zh-CN" altLang="en-US"/>
          <a:t>备兑策略应该不属于保值策略吧？主要是增强收益的作用。可以把备兑策略单独作为一页，放在这页下面。</a:t>
        </a:r>
      </a:p>
    </p188:txBody>
  </p188:cm>
  <p188:cm id="{C115484C-BEE8-4DD4-8AEE-EFAC67F7AD5C}" authorId="{D72689A8-DB26-2D49-372D-5D2F248A8C9D}" created="2026-03-07T09:54:23.84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570176201" sldId="4605"/>
      <ac:graphicFrameMk id="17" creationId="{7A9FA0B9-9926-380F-0F13-A45EFB56C981}"/>
    </ac:deMkLst>
    <p188:txBody>
      <a:bodyPr/>
      <a:lstStyle/>
      <a:p>
        <a:r>
          <a:rPr lang="zh-CN" altLang="en-US"/>
          <a:t>同上上页</a:t>
        </a:r>
      </a:p>
    </p188:txBody>
  </p188:cm>
</p188:cmLst>
</file>

<file path=ppt/comments/modernComment_1205_3BAFA41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F7E59B0-9506-4877-9AA2-7E36E8699F49}" authorId="{D72689A8-DB26-2D49-372D-5D2F248A8C9D}" created="2026-03-07T07:52:23.10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01366555" sldId="4613"/>
      <ac:spMk id="2" creationId="{4CFBDE3F-E753-E0AA-15B0-7AAE8067F100}"/>
    </ac:deMkLst>
    <p188:txBody>
      <a:bodyPr/>
      <a:lstStyle/>
      <a:p>
        <a:r>
          <a:rPr lang="zh-CN" altLang="en-US"/>
          <a:t>备兑策略应该不属于保值策略吧？主要是增强收益的作用。可以把备兑策略单独作为一页，放在这页下面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5687D96-BC00-40D0-8030-16F83880967B}" type="datetimeFigureOut">
              <a:rPr lang="zh-CN" altLang="en-US" smtClean="0"/>
              <a:pPr/>
              <a:t>2026/3/9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8EE86F43-DDD3-4756-A5E7-0A3AFC1058B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4D56E-3B5B-2702-DCCF-2B8898F33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7D36B6-7A1E-48B4-A968-7A109BB89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3B77B5-17BA-1F36-4CC0-FF7CCD2210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已更新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428BE4-B733-EFE0-F9D8-72172BAD3D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86F43-DDD3-4756-A5E7-0A3AFC1058B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350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9A06C-FBD3-36E0-2946-E34246184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765590-65E7-B56B-F0C4-5F52D5933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D610D11-6847-8222-61BC-9C4DEF329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已更新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EEE928-FC23-049B-7C34-140C636EE7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86F43-DDD3-4756-A5E7-0A3AFC1058B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738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15B7C-6966-CDB8-7812-FA72C1ABD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E8E7F2-57C3-97B1-0838-7B83142D71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49A5234-96C2-E899-22D8-7E843B531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已更新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22674F-B83C-8311-E1C3-E88C27EB0A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86F43-DDD3-4756-A5E7-0A3AFC1058B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321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E4A80-EB3A-F320-2EDA-403195CD8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0BEA31-35D1-0667-9449-F074F3B9F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254222-44FE-61B9-CDCE-A8D4F692D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已更新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42AC26-B0EF-C11D-F3DB-CC1B192E3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E86F43-DDD3-4756-A5E7-0A3AFC1058B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107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7097CFA-C7FA-42C8-8660-8002863C2F74}" type="datetimeFigureOut">
              <a:rPr lang="zh-CN" altLang="en-US" sz="1200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2026/3/9</a:t>
            </a:fld>
            <a:endParaRPr lang="zh-CN" altLang="en-US" sz="12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algn="ctr">
              <a:defRPr/>
            </a:pPr>
            <a:endParaRPr lang="zh-CN" altLang="en-US" sz="120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pPr algn="r">
              <a:defRPr/>
            </a:pPr>
            <a:fld id="{E022C68E-81A8-410B-B6C2-758AE83EB85B}" type="slidenum">
              <a:rPr lang="zh-CN" altLang="en-US" sz="1200" smtClean="0">
                <a:solidFill>
                  <a:prstClr val="black">
                    <a:tint val="75000"/>
                  </a:prstClr>
                </a:solidFill>
              </a:rPr>
              <a:pPr algn="r">
                <a:defRPr/>
              </a:pPr>
              <a:t>‹#›</a:t>
            </a:fld>
            <a:endParaRPr lang="zh-CN" altLang="en-US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4304" y="1374913"/>
            <a:ext cx="7733835" cy="4525963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800000"/>
              </a:buClr>
              <a:buSzPct val="100000"/>
              <a:buFont typeface="Wingdings" panose="05000000000000000000" pitchFamily="2" charset="2"/>
              <a:buChar char="p"/>
              <a:defRPr lang="zh-CN" altLang="en-US" sz="2200" b="1" dirty="0" smtClean="0">
                <a:solidFill>
                  <a:srgbClr val="80000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800000"/>
              </a:buClr>
              <a:buFont typeface="Wingdings" panose="05000000000000000000" pitchFamily="2" charset="2"/>
              <a:buChar char="ü"/>
              <a:defRPr sz="2000" b="1">
                <a:effectLst/>
                <a:latin typeface="Arial" panose="020B0604020202020204" pitchFamily="34" charset="0"/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800000"/>
              </a:buClr>
              <a:buFont typeface="Arial" panose="020B0604020202020204" pitchFamily="34" charset="0"/>
              <a:buChar char="•"/>
              <a:defRPr sz="1800" b="1">
                <a:latin typeface="Arial" panose="020B0604020202020204" pitchFamily="34" charset="0"/>
              </a:defRPr>
            </a:lvl3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734304" y="228526"/>
            <a:ext cx="7614566" cy="468251"/>
          </a:xfrm>
          <a:prstGeom prst="rect">
            <a:avLst/>
          </a:prstGeom>
        </p:spPr>
        <p:txBody>
          <a:bodyPr lIns="91420" tIns="45710" rIns="91420" bIns="45710"/>
          <a:lstStyle>
            <a:lvl1pPr algn="l">
              <a:defRPr sz="2500" b="1">
                <a:solidFill>
                  <a:srgbClr val="800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4304" y="228526"/>
            <a:ext cx="7627818" cy="468251"/>
          </a:xfrm>
          <a:prstGeom prst="rect">
            <a:avLst/>
          </a:prstGeom>
        </p:spPr>
        <p:txBody>
          <a:bodyPr lIns="91420" tIns="45710" rIns="91420" bIns="45710"/>
          <a:lstStyle>
            <a:lvl1pPr algn="l">
              <a:defRPr sz="2500" b="1">
                <a:solidFill>
                  <a:srgbClr val="800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980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784991" y="714356"/>
            <a:ext cx="7573223" cy="1588"/>
          </a:xfrm>
          <a:prstGeom prst="line">
            <a:avLst/>
          </a:prstGeom>
          <a:ln w="19050">
            <a:solidFill>
              <a:srgbClr val="8A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D:\黄振国\招商证券\2012.11\招商证券PPT模板--修改\崔栋栋---招商证券PPT模板（2012版）\LOGO.pn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73224" y="6554122"/>
            <a:ext cx="1961268" cy="303878"/>
          </a:xfrm>
          <a:prstGeom prst="rect">
            <a:avLst/>
          </a:prstGeom>
          <a:noFill/>
        </p:spPr>
      </p:pic>
      <p:sp>
        <p:nvSpPr>
          <p:cNvPr id="7" name="Rectangle 20"/>
          <p:cNvSpPr>
            <a:spLocks noChangeArrowheads="1"/>
          </p:cNvSpPr>
          <p:nvPr userDrawn="1"/>
        </p:nvSpPr>
        <p:spPr bwMode="auto">
          <a:xfrm>
            <a:off x="7723708" y="6597352"/>
            <a:ext cx="808732" cy="267554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91421" tIns="45710" rIns="91421" bIns="45710">
            <a:spAutoFit/>
          </a:bodyPr>
          <a:lstStyle/>
          <a:p>
            <a:pPr marL="549275" indent="-549275" algn="ctr" defTabSz="9144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kumimoji="1" lang="en-US" altLang="zh-CN" sz="1400" dirty="0">
                <a:solidFill>
                  <a:srgbClr val="990000"/>
                </a:solidFill>
                <a:latin typeface="Arial" panose="020B0604020202020204" pitchFamily="34" charset="0"/>
              </a:rPr>
              <a:t>- </a:t>
            </a:r>
            <a:fld id="{BD8CA708-BBEB-4FBB-A9AC-FCA4DB3BE69A}" type="slidenum">
              <a:rPr kumimoji="1" lang="zh-CN" altLang="en-US" sz="1400" smtClean="0">
                <a:solidFill>
                  <a:srgbClr val="990000"/>
                </a:solidFill>
                <a:latin typeface="Arial" panose="020B0604020202020204" pitchFamily="34" charset="0"/>
              </a:rPr>
              <a:t>‹#›</a:t>
            </a:fld>
            <a:r>
              <a:rPr kumimoji="1" lang="zh-CN" altLang="en-US" sz="1400" dirty="0">
                <a:solidFill>
                  <a:srgbClr val="990000"/>
                </a:solidFill>
                <a:latin typeface="Arial" panose="020B0604020202020204" pitchFamily="34" charset="0"/>
              </a:rPr>
              <a:t> </a:t>
            </a:r>
            <a:r>
              <a:rPr kumimoji="1" lang="en-US" altLang="zh-CN" sz="1400" dirty="0">
                <a:solidFill>
                  <a:srgbClr val="990000"/>
                </a:solidFill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11" name="Rectangle 4"/>
          <p:cNvSpPr>
            <a:spLocks noChangeArrowheads="1"/>
          </p:cNvSpPr>
          <p:nvPr userDrawn="1"/>
        </p:nvSpPr>
        <p:spPr bwMode="auto">
          <a:xfrm>
            <a:off x="-722362" y="431781"/>
            <a:ext cx="641838" cy="565150"/>
          </a:xfrm>
          <a:prstGeom prst="rect">
            <a:avLst/>
          </a:prstGeom>
          <a:solidFill>
            <a:srgbClr val="800000"/>
          </a:solidFill>
          <a:ln w="12700">
            <a:noFill/>
            <a:miter lim="800000"/>
          </a:ln>
          <a:effectLst/>
        </p:spPr>
        <p:txBody>
          <a:bodyPr wrap="none" anchor="ctr" anchorCtr="1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R: 128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G: 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B: 0</a:t>
            </a:r>
          </a:p>
        </p:txBody>
      </p:sp>
      <p:sp>
        <p:nvSpPr>
          <p:cNvPr id="14" name="Rectangle 4"/>
          <p:cNvSpPr>
            <a:spLocks noChangeArrowheads="1"/>
          </p:cNvSpPr>
          <p:nvPr userDrawn="1"/>
        </p:nvSpPr>
        <p:spPr bwMode="auto">
          <a:xfrm>
            <a:off x="-722362" y="1214206"/>
            <a:ext cx="641838" cy="565150"/>
          </a:xfrm>
          <a:prstGeom prst="rect">
            <a:avLst/>
          </a:prstGeom>
          <a:solidFill>
            <a:srgbClr val="A50021"/>
          </a:solidFill>
          <a:ln w="12700">
            <a:noFill/>
            <a:miter lim="800000"/>
          </a:ln>
          <a:effectLst/>
        </p:spPr>
        <p:txBody>
          <a:bodyPr wrap="none" anchor="ctr" anchorCtr="1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R: 165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G: 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B: 33</a:t>
            </a:r>
          </a:p>
        </p:txBody>
      </p:sp>
      <p:sp>
        <p:nvSpPr>
          <p:cNvPr id="15" name="Rectangle 5"/>
          <p:cNvSpPr>
            <a:spLocks noChangeArrowheads="1"/>
          </p:cNvSpPr>
          <p:nvPr userDrawn="1"/>
        </p:nvSpPr>
        <p:spPr bwMode="auto">
          <a:xfrm>
            <a:off x="-722362" y="1997496"/>
            <a:ext cx="643304" cy="554038"/>
          </a:xfrm>
          <a:prstGeom prst="rect">
            <a:avLst/>
          </a:prstGeom>
          <a:solidFill>
            <a:srgbClr val="9F6603"/>
          </a:solidFill>
          <a:ln w="12700">
            <a:noFill/>
            <a:miter lim="800000"/>
          </a:ln>
          <a:effectLst/>
        </p:spPr>
        <p:txBody>
          <a:bodyPr wrap="none" anchor="ctr" anchorCtr="1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R: 169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G: 102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B: 3</a:t>
            </a:r>
          </a:p>
        </p:txBody>
      </p:sp>
      <p:sp>
        <p:nvSpPr>
          <p:cNvPr id="16" name="Rectangle 15"/>
          <p:cNvSpPr>
            <a:spLocks noChangeArrowheads="1"/>
          </p:cNvSpPr>
          <p:nvPr userDrawn="1"/>
        </p:nvSpPr>
        <p:spPr bwMode="auto">
          <a:xfrm>
            <a:off x="-723827" y="4356497"/>
            <a:ext cx="643302" cy="576263"/>
          </a:xfrm>
          <a:prstGeom prst="rect">
            <a:avLst/>
          </a:prstGeom>
          <a:solidFill>
            <a:srgbClr val="A5A5A5"/>
          </a:solidFill>
          <a:ln w="12700">
            <a:noFill/>
            <a:miter lim="800000"/>
          </a:ln>
          <a:effectLst/>
        </p:spPr>
        <p:txBody>
          <a:bodyPr wrap="none" anchor="ctr" anchorCtr="1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R: 165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G: 165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B: 165</a:t>
            </a:r>
          </a:p>
        </p:txBody>
      </p:sp>
      <p:sp>
        <p:nvSpPr>
          <p:cNvPr id="17" name="Rectangle 14"/>
          <p:cNvSpPr>
            <a:spLocks noChangeArrowheads="1"/>
          </p:cNvSpPr>
          <p:nvPr userDrawn="1"/>
        </p:nvSpPr>
        <p:spPr bwMode="auto">
          <a:xfrm>
            <a:off x="-723829" y="5166578"/>
            <a:ext cx="643304" cy="568325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>
            <a:noFill/>
            <a:miter lim="800000"/>
            <a:headEnd type="none" w="sm" len="sm"/>
            <a:tailEnd type="none" w="sm" len="sm"/>
          </a:ln>
          <a:effectLst/>
        </p:spPr>
        <p:txBody>
          <a:bodyPr lIns="97234" tIns="48617" rIns="97234" bIns="48617" anchor="ctr"/>
          <a:lstStyle/>
          <a:p>
            <a:pPr algn="ctr" defTabSz="97345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R: 127</a:t>
            </a:r>
          </a:p>
          <a:p>
            <a:pPr algn="ctr" defTabSz="97345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G: 127</a:t>
            </a:r>
          </a:p>
          <a:p>
            <a:pPr algn="ctr" defTabSz="97345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B: 127</a:t>
            </a:r>
          </a:p>
        </p:txBody>
      </p:sp>
      <p:sp>
        <p:nvSpPr>
          <p:cNvPr id="18" name="Rectangle 4"/>
          <p:cNvSpPr>
            <a:spLocks noChangeArrowheads="1"/>
          </p:cNvSpPr>
          <p:nvPr userDrawn="1"/>
        </p:nvSpPr>
        <p:spPr bwMode="auto">
          <a:xfrm>
            <a:off x="-722362" y="431781"/>
            <a:ext cx="641838" cy="565150"/>
          </a:xfrm>
          <a:prstGeom prst="rect">
            <a:avLst/>
          </a:prstGeom>
          <a:solidFill>
            <a:srgbClr val="800000"/>
          </a:solidFill>
          <a:ln w="12700">
            <a:noFill/>
            <a:miter lim="800000"/>
          </a:ln>
          <a:effectLst/>
        </p:spPr>
        <p:txBody>
          <a:bodyPr wrap="none" anchor="ctr" anchorCtr="1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R: 128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G: 0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B: 0</a:t>
            </a:r>
          </a:p>
        </p:txBody>
      </p:sp>
      <p:sp>
        <p:nvSpPr>
          <p:cNvPr id="19" name="Rectangle 4"/>
          <p:cNvSpPr>
            <a:spLocks noChangeArrowheads="1"/>
          </p:cNvSpPr>
          <p:nvPr userDrawn="1"/>
        </p:nvSpPr>
        <p:spPr bwMode="auto">
          <a:xfrm>
            <a:off x="-723827" y="3557529"/>
            <a:ext cx="643303" cy="565150"/>
          </a:xfrm>
          <a:prstGeom prst="rect">
            <a:avLst/>
          </a:prstGeom>
          <a:solidFill>
            <a:srgbClr val="FFC000"/>
          </a:solidFill>
          <a:ln w="12700">
            <a:noFill/>
            <a:miter lim="800000"/>
          </a:ln>
          <a:effectLst/>
        </p:spPr>
        <p:txBody>
          <a:bodyPr wrap="none" anchor="ctr" anchorCtr="1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R: 255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G: 192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tx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B: 0</a:t>
            </a:r>
          </a:p>
        </p:txBody>
      </p:sp>
      <p:sp>
        <p:nvSpPr>
          <p:cNvPr id="20" name="Rectangle 6"/>
          <p:cNvSpPr>
            <a:spLocks noChangeArrowheads="1"/>
          </p:cNvSpPr>
          <p:nvPr userDrawn="1"/>
        </p:nvSpPr>
        <p:spPr bwMode="auto">
          <a:xfrm>
            <a:off x="-722362" y="2769674"/>
            <a:ext cx="643304" cy="554037"/>
          </a:xfrm>
          <a:prstGeom prst="rect">
            <a:avLst/>
          </a:prstGeom>
          <a:solidFill>
            <a:srgbClr val="CE9260"/>
          </a:solidFill>
          <a:ln w="12700">
            <a:noFill/>
            <a:miter lim="800000"/>
          </a:ln>
          <a:effectLst/>
        </p:spPr>
        <p:txBody>
          <a:bodyPr wrap="none" anchor="ctr" anchorCtr="1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R: 206</a:t>
            </a:r>
            <a:endParaRPr lang="pt-BR" altLang="zh-CN" sz="1100" b="1" dirty="0">
              <a:solidFill>
                <a:schemeClr val="bg1"/>
              </a:solidFill>
              <a:latin typeface="Arial" panose="020B0604020202020204" pitchFamily="34" charset="0"/>
              <a:ea typeface="DFKai-SB" panose="03000509000000000000" pitchFamily="65" charset="-120"/>
              <a:cs typeface="Arial" panose="020B0604020202020204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G: 146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pt-BR" altLang="zh-CN" sz="1100" b="1" dirty="0">
                <a:solidFill>
                  <a:schemeClr val="bg1"/>
                </a:solidFill>
                <a:latin typeface="Arial" panose="020B0604020202020204" pitchFamily="34" charset="0"/>
                <a:ea typeface="DFKai-SB" panose="03000509000000000000" pitchFamily="65" charset="-120"/>
                <a:cs typeface="Arial" panose="020B0604020202020204" pitchFamily="34" charset="0"/>
              </a:rPr>
              <a:t>B: 96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F2_3A258879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FB_130984C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FD_D4CC90C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05_3BAFA41B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5AB59-4284-94B2-BC81-1E193F59C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938EEC0-25C2-A32C-9E5A-AD891099448B}"/>
              </a:ext>
            </a:extLst>
          </p:cNvPr>
          <p:cNvSpPr/>
          <p:nvPr/>
        </p:nvSpPr>
        <p:spPr>
          <a:xfrm>
            <a:off x="2662834" y="161485"/>
            <a:ext cx="61350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j-lt"/>
                <a:ea typeface="楷体" panose="02010609060101010101" pitchFamily="49" charset="-122"/>
              </a:rPr>
              <a:t>标题</a:t>
            </a:r>
            <a:r>
              <a:rPr lang="en-US" altLang="zh-CN" sz="2400" dirty="0">
                <a:solidFill>
                  <a:schemeClr val="bg1"/>
                </a:solidFill>
                <a:latin typeface="+mj-lt"/>
                <a:ea typeface="楷体" panose="02010609060101010101" pitchFamily="49" charset="-122"/>
              </a:rPr>
              <a:t>XXXXXXXXXXXXXXXXXXXXXXXXXX</a:t>
            </a:r>
            <a:endParaRPr lang="zh-CN" altLang="en-US" sz="2400" dirty="0">
              <a:solidFill>
                <a:schemeClr val="bg1"/>
              </a:solidFill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27D22E3-518F-69A6-7CBD-A6BA891F0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98" y="229840"/>
            <a:ext cx="7627818" cy="468251"/>
          </a:xfrm>
        </p:spPr>
        <p:txBody>
          <a:bodyPr/>
          <a:lstStyle/>
          <a:p>
            <a:r>
              <a:rPr lang="en-US" altLang="zh-CN" dirty="0">
                <a:latin typeface="+mj-lt"/>
              </a:rPr>
              <a:t>1</a:t>
            </a:r>
            <a:r>
              <a:rPr lang="zh-CN" altLang="en-US" dirty="0">
                <a:latin typeface="+mj-lt"/>
              </a:rPr>
              <a:t>、看多策略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DD32F6B-C221-3B72-56E3-DD71BAEB91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283148"/>
              </p:ext>
            </p:extLst>
          </p:nvPr>
        </p:nvGraphicFramePr>
        <p:xfrm>
          <a:off x="265471" y="902126"/>
          <a:ext cx="5365888" cy="5429848"/>
        </p:xfrm>
        <a:graphic>
          <a:graphicData uri="http://schemas.openxmlformats.org/drawingml/2006/table">
            <a:tbl>
              <a:tblPr firstRow="1" firstCol="1" bandRow="1"/>
              <a:tblGrid>
                <a:gridCol w="924232">
                  <a:extLst>
                    <a:ext uri="{9D8B030D-6E8A-4147-A177-3AD203B41FA5}">
                      <a16:colId xmlns:a16="http://schemas.microsoft.com/office/drawing/2014/main" val="2834520790"/>
                    </a:ext>
                  </a:extLst>
                </a:gridCol>
                <a:gridCol w="2005781">
                  <a:extLst>
                    <a:ext uri="{9D8B030D-6E8A-4147-A177-3AD203B41FA5}">
                      <a16:colId xmlns:a16="http://schemas.microsoft.com/office/drawing/2014/main" val="2633141199"/>
                    </a:ext>
                  </a:extLst>
                </a:gridCol>
                <a:gridCol w="1011491">
                  <a:extLst>
                    <a:ext uri="{9D8B030D-6E8A-4147-A177-3AD203B41FA5}">
                      <a16:colId xmlns:a16="http://schemas.microsoft.com/office/drawing/2014/main" val="3191157558"/>
                    </a:ext>
                  </a:extLst>
                </a:gridCol>
                <a:gridCol w="1424384">
                  <a:extLst>
                    <a:ext uri="{9D8B030D-6E8A-4147-A177-3AD203B41FA5}">
                      <a16:colId xmlns:a16="http://schemas.microsoft.com/office/drawing/2014/main" val="2318234985"/>
                    </a:ext>
                  </a:extLst>
                </a:gridCol>
              </a:tblGrid>
              <a:tr h="79206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策略名称</a:t>
                      </a:r>
                      <a:endParaRPr lang="zh-CN" alt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策略构成</a:t>
                      </a:r>
                      <a:endParaRPr lang="zh-CN" alt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希腊字母特征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适用场景</a:t>
                      </a:r>
                      <a:endParaRPr lang="en-US" sz="14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519318"/>
                  </a:ext>
                </a:extLst>
              </a:tr>
              <a:tr h="115944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买入看涨期权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买入</a:t>
                      </a:r>
                      <a:r>
                        <a:rPr lang="en-US" altLang="zh-CN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份看涨期权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+Delta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+Gamma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+Vega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-Theta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预期后市将大幅上涨</a:t>
                      </a:r>
                      <a:endParaRPr lang="en-US" sz="1400" b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407998"/>
                  </a:ext>
                </a:extLst>
              </a:tr>
              <a:tr h="115944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卖出看跌期权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卖出</a:t>
                      </a:r>
                      <a:r>
                        <a:rPr lang="en-US" altLang="zh-CN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份看跌期权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+Delta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-Gamma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-Vega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+Theta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预期后市不跌或小幅上涨</a:t>
                      </a:r>
                      <a:endParaRPr lang="en-US" sz="1400" b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765812"/>
                  </a:ext>
                </a:extLst>
              </a:tr>
              <a:tr h="115944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牛市看涨期权价差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买入</a:t>
                      </a:r>
                      <a:r>
                        <a:rPr lang="en-US" altLang="zh-CN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份低行权价看涨期权 </a:t>
                      </a:r>
                      <a:r>
                        <a:rPr lang="en-US" altLang="zh-CN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 </a:t>
                      </a: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卖出</a:t>
                      </a:r>
                      <a:r>
                        <a:rPr lang="en-US" altLang="zh-CN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份高行权价看涨期权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+Delta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Gamma≈0Vega≈0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Theta≈0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预期后市小幅上涨，旨在降低投资成本</a:t>
                      </a:r>
                      <a:endParaRPr lang="en-US" sz="1400" b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09421"/>
                  </a:ext>
                </a:extLst>
              </a:tr>
              <a:tr h="115944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牛市看跌期权价差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买入</a:t>
                      </a:r>
                      <a:r>
                        <a:rPr lang="en-US" altLang="zh-C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份低行权价看跌期权 </a:t>
                      </a:r>
                      <a:r>
                        <a:rPr lang="en-US" altLang="zh-C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 </a:t>
                      </a:r>
                      <a:r>
                        <a:rPr lang="zh-CN" altLang="en-US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卖出</a:t>
                      </a:r>
                      <a:r>
                        <a:rPr lang="en-US" altLang="zh-CN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400" b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份高行权价看跌期权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+Delta</a:t>
                      </a: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、</a:t>
                      </a: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Gamma≈0Vega≈0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Theta≈0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预期后市小幅上涨，旨在赚取时间价值且风险可控</a:t>
                      </a:r>
                      <a:endParaRPr lang="en-US" sz="1400" b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423585"/>
                  </a:ext>
                </a:extLst>
              </a:tr>
            </a:tbl>
          </a:graphicData>
        </a:graphic>
      </p:graphicFrame>
      <p:sp>
        <p:nvSpPr>
          <p:cNvPr id="4" name="TextBox 14">
            <a:extLst>
              <a:ext uri="{FF2B5EF4-FFF2-40B4-BE49-F238E27FC236}">
                <a16:creationId xmlns:a16="http://schemas.microsoft.com/office/drawing/2014/main" id="{E6B00961-EBC0-3B2C-4AC1-2046B3660498}"/>
              </a:ext>
            </a:extLst>
          </p:cNvPr>
          <p:cNvSpPr txBox="1"/>
          <p:nvPr/>
        </p:nvSpPr>
        <p:spPr>
          <a:xfrm>
            <a:off x="4333804" y="6515545"/>
            <a:ext cx="13965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050" dirty="0">
                <a:latin typeface="+mj-lt"/>
              </a:rPr>
              <a:t>数据来源：招商证券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5A66175-3EEC-C1BA-E393-0945BB9ADC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510" t="4661" r="11555" b="5786"/>
          <a:stretch>
            <a:fillRect/>
          </a:stretch>
        </p:blipFill>
        <p:spPr>
          <a:xfrm>
            <a:off x="6061637" y="310200"/>
            <a:ext cx="2679345" cy="623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382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5F15E-3756-51E5-EA52-BA202D4F2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057380B8-4DF0-33D3-834E-79EA4594EB42}"/>
              </a:ext>
            </a:extLst>
          </p:cNvPr>
          <p:cNvSpPr/>
          <p:nvPr/>
        </p:nvSpPr>
        <p:spPr>
          <a:xfrm>
            <a:off x="2662834" y="161485"/>
            <a:ext cx="61350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j-lt"/>
                <a:ea typeface="楷体" panose="02010609060101010101" pitchFamily="49" charset="-122"/>
              </a:rPr>
              <a:t>标题</a:t>
            </a:r>
            <a:r>
              <a:rPr lang="en-US" altLang="zh-CN" sz="2400" dirty="0">
                <a:solidFill>
                  <a:schemeClr val="bg1"/>
                </a:solidFill>
                <a:latin typeface="+mj-lt"/>
                <a:ea typeface="楷体" panose="02010609060101010101" pitchFamily="49" charset="-122"/>
              </a:rPr>
              <a:t>XXXXXXXXXXXXXXXXXXXXXXXXXX</a:t>
            </a:r>
            <a:endParaRPr lang="zh-CN" altLang="en-US" sz="2400" dirty="0">
              <a:solidFill>
                <a:schemeClr val="bg1"/>
              </a:solidFill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3B8A148-CD2D-80A9-7A21-2019C167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950" y="239603"/>
            <a:ext cx="7627818" cy="468251"/>
          </a:xfrm>
        </p:spPr>
        <p:txBody>
          <a:bodyPr/>
          <a:lstStyle/>
          <a:p>
            <a:r>
              <a:rPr lang="en-US" altLang="zh-CN" dirty="0">
                <a:latin typeface="+mj-lt"/>
              </a:rPr>
              <a:t>2</a:t>
            </a:r>
            <a:r>
              <a:rPr lang="zh-CN" altLang="en-US" dirty="0">
                <a:latin typeface="+mj-lt"/>
              </a:rPr>
              <a:t>、看空策略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5C4EEBBC-7EAA-DBAD-5DD3-7720549EED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514392"/>
              </p:ext>
            </p:extLst>
          </p:nvPr>
        </p:nvGraphicFramePr>
        <p:xfrm>
          <a:off x="494497" y="978963"/>
          <a:ext cx="5434483" cy="5184604"/>
        </p:xfrm>
        <a:graphic>
          <a:graphicData uri="http://schemas.openxmlformats.org/drawingml/2006/table">
            <a:tbl>
              <a:tblPr firstRow="1" firstCol="1" bandRow="1"/>
              <a:tblGrid>
                <a:gridCol w="781354">
                  <a:extLst>
                    <a:ext uri="{9D8B030D-6E8A-4147-A177-3AD203B41FA5}">
                      <a16:colId xmlns:a16="http://schemas.microsoft.com/office/drawing/2014/main" val="2834520790"/>
                    </a:ext>
                  </a:extLst>
                </a:gridCol>
                <a:gridCol w="1767943">
                  <a:extLst>
                    <a:ext uri="{9D8B030D-6E8A-4147-A177-3AD203B41FA5}">
                      <a16:colId xmlns:a16="http://schemas.microsoft.com/office/drawing/2014/main" val="2633141199"/>
                    </a:ext>
                  </a:extLst>
                </a:gridCol>
                <a:gridCol w="1442593">
                  <a:extLst>
                    <a:ext uri="{9D8B030D-6E8A-4147-A177-3AD203B41FA5}">
                      <a16:colId xmlns:a16="http://schemas.microsoft.com/office/drawing/2014/main" val="3191157558"/>
                    </a:ext>
                  </a:extLst>
                </a:gridCol>
                <a:gridCol w="1442593">
                  <a:extLst>
                    <a:ext uri="{9D8B030D-6E8A-4147-A177-3AD203B41FA5}">
                      <a16:colId xmlns:a16="http://schemas.microsoft.com/office/drawing/2014/main" val="3593368738"/>
                    </a:ext>
                  </a:extLst>
                </a:gridCol>
              </a:tblGrid>
              <a:tr h="115861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策略名称</a:t>
                      </a:r>
                      <a:endParaRPr lang="zh-CN" alt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策略构成（期权组合）</a:t>
                      </a:r>
                      <a:endParaRPr lang="zh-CN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希腊字母特征（</a:t>
                      </a:r>
                      <a:r>
                        <a:rPr lang="en-US" sz="14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Delta、Gamma、Vega、Theta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）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适用场景</a:t>
                      </a:r>
                      <a:endParaRPr lang="en-US" altLang="zh-CN" sz="1400" b="1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519318"/>
                  </a:ext>
                </a:extLst>
              </a:tr>
              <a:tr h="100649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买入看跌期权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买入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份看跌期权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-Delta、+Gamma、+Vega、-Theta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预期后市大幅下跌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571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407998"/>
                  </a:ext>
                </a:extLst>
              </a:tr>
              <a:tr h="100649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卖出看涨期权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卖出</a:t>
                      </a:r>
                      <a:r>
                        <a:rPr lang="en-US" altLang="zh-C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份看涨期权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-Delta、-Gamma、-Vega、+Theta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预期后市不涨或小幅下跌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765812"/>
                  </a:ext>
                </a:extLst>
              </a:tr>
              <a:tr h="100649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熊市看涨期权价差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卖出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份低行权价看涨期权 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 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买入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份高行权价看涨期权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-Delta、Gamma≈0、Vega≈0、Theta≈0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预期后市小幅下跌，限定价格上涨的最大损失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809421"/>
                  </a:ext>
                </a:extLst>
              </a:tr>
              <a:tr h="100649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熊市看跌期权价差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卖出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份低行权价看跌期权 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+ 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买入</a:t>
                      </a:r>
                      <a:r>
                        <a:rPr lang="en-US" altLang="zh-C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</a:t>
                      </a:r>
                      <a:r>
                        <a:rPr lang="zh-CN" alt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份高行权价看跌期权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-Delta、Gamma≈0、Vega≈0、Theta≈0</a:t>
                      </a: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CN" alt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预期后市小幅下跌，降低买入看涨期权成本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1423585"/>
                  </a:ext>
                </a:extLst>
              </a:tr>
            </a:tbl>
          </a:graphicData>
        </a:graphic>
      </p:graphicFrame>
      <p:sp>
        <p:nvSpPr>
          <p:cNvPr id="3" name="TextBox 14">
            <a:extLst>
              <a:ext uri="{FF2B5EF4-FFF2-40B4-BE49-F238E27FC236}">
                <a16:creationId xmlns:a16="http://schemas.microsoft.com/office/drawing/2014/main" id="{ECF0B640-F632-A0F7-A4E2-FFAC519FA307}"/>
              </a:ext>
            </a:extLst>
          </p:cNvPr>
          <p:cNvSpPr txBox="1"/>
          <p:nvPr/>
        </p:nvSpPr>
        <p:spPr>
          <a:xfrm>
            <a:off x="4265532" y="6569557"/>
            <a:ext cx="13965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050" dirty="0">
                <a:latin typeface="+mj-lt"/>
              </a:rPr>
              <a:t>数据来源：招商证券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B11736E-1C26-BE3C-B26E-6C26BE06ED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080" t="4866" r="11342" b="6723"/>
          <a:stretch>
            <a:fillRect/>
          </a:stretch>
        </p:blipFill>
        <p:spPr>
          <a:xfrm>
            <a:off x="6171971" y="760203"/>
            <a:ext cx="2537062" cy="585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19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6B875-6FBA-6F74-1930-FCAB4E4E7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B6D46CD-F44F-5AAA-7C16-AAC6094BDA55}"/>
              </a:ext>
            </a:extLst>
          </p:cNvPr>
          <p:cNvSpPr/>
          <p:nvPr/>
        </p:nvSpPr>
        <p:spPr>
          <a:xfrm>
            <a:off x="2662834" y="161485"/>
            <a:ext cx="61350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j-lt"/>
                <a:ea typeface="楷体" panose="02010609060101010101" pitchFamily="49" charset="-122"/>
              </a:rPr>
              <a:t>标题</a:t>
            </a:r>
            <a:r>
              <a:rPr lang="en-US" altLang="zh-CN" sz="2400" dirty="0">
                <a:solidFill>
                  <a:schemeClr val="bg1"/>
                </a:solidFill>
                <a:latin typeface="+mj-lt"/>
                <a:ea typeface="楷体" panose="02010609060101010101" pitchFamily="49" charset="-122"/>
              </a:rPr>
              <a:t>XXXXXXXXXXXXXXXXXXXXXXXXXX</a:t>
            </a:r>
            <a:endParaRPr lang="zh-CN" altLang="en-US" sz="2400" dirty="0">
              <a:solidFill>
                <a:schemeClr val="bg1"/>
              </a:solidFill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99C0225-8021-3049-BF0C-900A54D21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98" y="229840"/>
            <a:ext cx="7627818" cy="468251"/>
          </a:xfrm>
        </p:spPr>
        <p:txBody>
          <a:bodyPr/>
          <a:lstStyle/>
          <a:p>
            <a:r>
              <a:rPr lang="en-US" altLang="zh-CN" dirty="0">
                <a:latin typeface="+mj-lt"/>
              </a:rPr>
              <a:t>3</a:t>
            </a:r>
            <a:r>
              <a:rPr lang="zh-CN" altLang="en-US" dirty="0">
                <a:latin typeface="+mj-lt"/>
              </a:rPr>
              <a:t>、保值策略</a:t>
            </a: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FEC43555-A4D3-D851-76AE-47A5CF8C38AF}"/>
              </a:ext>
            </a:extLst>
          </p:cNvPr>
          <p:cNvSpPr txBox="1"/>
          <p:nvPr/>
        </p:nvSpPr>
        <p:spPr>
          <a:xfrm>
            <a:off x="6564785" y="6569557"/>
            <a:ext cx="13965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050" dirty="0">
                <a:latin typeface="+mj-lt"/>
              </a:rPr>
              <a:t>数据来源：招商证券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02C5E7F-0011-5E4C-C4D0-3F2E1E8F5C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73" t="10021" r="3275" b="5504"/>
          <a:stretch>
            <a:fillRect/>
          </a:stretch>
        </p:blipFill>
        <p:spPr>
          <a:xfrm>
            <a:off x="3521044" y="776311"/>
            <a:ext cx="4995447" cy="579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17620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98FAE-148F-7A74-C947-A4BCC2517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2CA159E0-72C2-29F6-CF9B-047EA75D1DB1}"/>
              </a:ext>
            </a:extLst>
          </p:cNvPr>
          <p:cNvSpPr/>
          <p:nvPr/>
        </p:nvSpPr>
        <p:spPr>
          <a:xfrm>
            <a:off x="2662834" y="161485"/>
            <a:ext cx="61350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j-lt"/>
                <a:ea typeface="楷体" panose="02010609060101010101" pitchFamily="49" charset="-122"/>
              </a:rPr>
              <a:t>标题</a:t>
            </a:r>
            <a:r>
              <a:rPr lang="en-US" altLang="zh-CN" sz="2400" dirty="0">
                <a:solidFill>
                  <a:schemeClr val="bg1"/>
                </a:solidFill>
                <a:latin typeface="+mj-lt"/>
                <a:ea typeface="楷体" panose="02010609060101010101" pitchFamily="49" charset="-122"/>
              </a:rPr>
              <a:t>XXXXXXXXXXXXXXXXXXXXXXXXXX</a:t>
            </a:r>
            <a:endParaRPr lang="zh-CN" altLang="en-US" sz="2400" dirty="0">
              <a:solidFill>
                <a:schemeClr val="bg1"/>
              </a:solidFill>
              <a:latin typeface="+mj-lt"/>
              <a:ea typeface="楷体" panose="02010609060101010101" pitchFamily="49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CFBDE3F-E753-E0AA-15B0-7AAE8067F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98" y="229840"/>
            <a:ext cx="7627818" cy="468251"/>
          </a:xfrm>
        </p:spPr>
        <p:txBody>
          <a:bodyPr/>
          <a:lstStyle/>
          <a:p>
            <a:r>
              <a:rPr lang="en-US" altLang="zh-CN" dirty="0">
                <a:latin typeface="+mj-lt"/>
              </a:rPr>
              <a:t>4</a:t>
            </a:r>
            <a:r>
              <a:rPr lang="zh-CN" altLang="en-US" dirty="0">
                <a:latin typeface="+mj-lt"/>
              </a:rPr>
              <a:t>、跨式策略</a:t>
            </a:r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088F8E5A-9921-81D6-ACAD-4923A7DC6D58}"/>
              </a:ext>
            </a:extLst>
          </p:cNvPr>
          <p:cNvSpPr txBox="1"/>
          <p:nvPr/>
        </p:nvSpPr>
        <p:spPr>
          <a:xfrm>
            <a:off x="6564785" y="6569557"/>
            <a:ext cx="13965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050" dirty="0">
                <a:latin typeface="+mj-lt"/>
              </a:rPr>
              <a:t>数据来源：招商证券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A2873A2-6159-5FEB-3E3C-E65E52BEE3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879" t="3975" r="7405" b="8697"/>
          <a:stretch>
            <a:fillRect/>
          </a:stretch>
        </p:blipFill>
        <p:spPr>
          <a:xfrm>
            <a:off x="5452678" y="766446"/>
            <a:ext cx="2767748" cy="598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665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默认设计模板">
  <a:themeElements>
    <a:clrScheme name="招商证券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800000"/>
      </a:accent1>
      <a:accent2>
        <a:srgbClr val="FFBD47"/>
      </a:accent2>
      <a:accent3>
        <a:srgbClr val="B64926"/>
      </a:accent3>
      <a:accent4>
        <a:srgbClr val="A5A5A5"/>
      </a:accent4>
      <a:accent5>
        <a:srgbClr val="CC9900"/>
      </a:accent5>
      <a:accent6>
        <a:srgbClr val="A50021"/>
      </a:accent6>
      <a:hlink>
        <a:srgbClr val="CC9900"/>
      </a:hlink>
      <a:folHlink>
        <a:srgbClr val="666699"/>
      </a:folHlink>
    </a:clrScheme>
    <a:fontScheme name="自定义 2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990000"/>
        </a:solidFill>
        <a:ln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lnSpc>
            <a:spcPct val="130000"/>
          </a:lnSpc>
          <a:spcAft>
            <a:spcPts val="600"/>
          </a:spcAft>
          <a:defRPr dirty="0"/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3149</TotalTime>
  <Words>371</Words>
  <Application>Microsoft Office PowerPoint</Application>
  <PresentationFormat>全屏显示(4:3)</PresentationFormat>
  <Paragraphs>69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Google Sans Text</vt:lpstr>
      <vt:lpstr>楷体</vt:lpstr>
      <vt:lpstr>Arial</vt:lpstr>
      <vt:lpstr>Wingdings</vt:lpstr>
      <vt:lpstr>默认设计模板</vt:lpstr>
      <vt:lpstr>1、看多策略</vt:lpstr>
      <vt:lpstr>2、看空策略</vt:lpstr>
      <vt:lpstr>3、保值策略</vt:lpstr>
      <vt:lpstr>4、跨式策略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hbfive lee</dc:creator>
  <cp:lastModifiedBy>Alfred Jiang</cp:lastModifiedBy>
  <cp:revision>671</cp:revision>
  <dcterms:created xsi:type="dcterms:W3CDTF">2025-01-25T07:32:00Z</dcterms:created>
  <dcterms:modified xsi:type="dcterms:W3CDTF">2026-03-09T03:16:23Z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B3A5F2CA0C4B1E28709294674110FDC7_42</vt:lpwstr>
  </property>
  <property fmtid="{D5CDD505-2E9C-101B-9397-08002B2CF9AE}" pid="3" name="KSOProductBuildVer">
    <vt:lpwstr>2052-12.1.0.20784</vt:lpwstr>
  </property>
  <property fmtid="{D5CDD505-2E9C-101B-9397-08002B2CF9AE}" pid="4" name="_KSOProductBuildMID">
    <vt:lpwstr>CZWMY6GJ79VA0TBG9GR8ILJ87ZCMO7VR9J0XLJDWXFFRTQCTZIBR6CJAFSVHPFRRBFMXHOZ8ZIAD8MEJRXFTPF8H8RM0WL5BBJOOIHB32CE01216DA8CAB6F982B4809CD317CFC</vt:lpwstr>
  </property>
  <property fmtid="{D5CDD505-2E9C-101B-9397-08002B2CF9AE}" pid="5" name="_KSOProductBuildSID">
    <vt:lpwstr>CAWFK6GD79VQ00TGRQR8YL0Y7ZEMOYPREE06BJDWXGHRTDLT6MBRVC0HFYYHP8IRBOM6SOLKZIW78MJJEFFTKFFX8RF0WHWBBSOORHB31DAC233600826DA894F78B01169EEFEF</vt:lpwstr>
  </property>
</Properties>
</file>